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6"/>
    <p:sldId id="257" r:id="rId8"/>
    <p:sldId id="258" r:id="rId9"/>
    <p:sldId id="259" r:id="rId10"/>
    <p:sldId id="260" r:id="rId11"/>
    <p:sldId id="261" r:id="rId12"/>
    <p:sldId id="262" r:id="rId13"/>
    <p:sldId id="263" r:id="rId14"/>
    <p:sldId id="264" r:id="rId15"/>
    <p:sldId id="265" r:id="rId16"/>
    <p:sldId id="266"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9398"/>
    <p:restoredTop sz="94649"/>
  </p:normalViewPr>
  <p:slideViewPr>
    <p:cSldViewPr snapToGrid="0">
      <p:cViewPr>
        <p:scale>
          <a:sx n="63" d="100"/>
          <a:sy n="63" d="100"/>
        </p:scale>
        <p:origin x="144" y="20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6" Type="http://schemas.openxmlformats.org/officeDocument/2006/relationships/slide" Target="slides/slide1.xml"/><Relationship Id="rId7" Type="http://schemas.openxmlformats.org/officeDocument/2006/relationships/notesMaster" Target="notesMasters/notesMaster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everyone, my name is Cody Grandt, and this is Preliminary Results 1 for my Neural Network-Based Strength and Volume Optimization Engine. This milestone shows that the full setup works end to end and that the results are heading in the right direction.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pipeline as it runs today: real lifter baselines from OpenPowerlifting, a thirty-day fatigue simulator, six hundred lifters held out for testing, two MLPs, and a FastAPI inference microservice that my Next.js interface calls in about a millisecond. One correction from my Structure presentation: I called the regressor a Progression Forecaster. That was the wrong word. It is a function approximator that maps a lifter's current state to a prescribed load for the next session.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baseline data is real. OpenPowerlifting has just over four million competition entries. Filtering to Raw lifters with a valid bench, one entry per lifter, leaves 436,706 lifters, and I sample three thousand for this milestone. Competitions only record a single best lift, not daily training, so the sessions themselves are simulated.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simulated lifter has a hidden fatigue state. Sessions add fatigue in proportion to volume and effort, and it decays about twenty percent per day of rest. Fatigue lowers capacity, so reps fall and RPE rises. In this example, as fatigue builds over two weeks, the right load for the next session drops from about 82 to 70 kilograms. That load, for five reps at RPE 8 next session, is the regression target. The network never sees the fatigue value, only what a lifter could log.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test lifter is someone the model has never seen, and every result is compared against a baseline: the static Epley formula, a single fitted ratio of one-rep max, linear regression, and for the classifier, its own labeling rule given only the visible inputs. I report error as a percentage of one-rep max, because just multiplying one-rep max by 0.73 already scores an R squared of 0.985. Absolute R squared would flatter any model.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held-out lifters, the MLP's error is 1.79 percent of one-rep max, about 1.9 kilograms. Static Epley is off by over eight percent because it ignores fatigue. Scaling one-rep max alone gets 2.67, and linear regression gets 1.88. So the MLP beats every baseline, but its lead over linear regression is small, and with a noise floor of 0.8 kilograms there is clear room to improve.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classifier reaches 86 percent accuracy. The fair baseline is its labeling rule given only the visible inputs, at 76 percent, so the network is recovering part of the hidden fatigue. Most remaining errors are between optimal and excessive, exactly where hidden fatigue decides the label.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code running live. [Terminal 1, in the server folder] python train_pipeline.py simulates 39,000 sessions, trains both networks, and prints the tables you just saw. [Terminal 2] Uvicorn starts the inference service; the models load once at startup. [Browser, localhost:3000] I log a bench session set by set, and Recoil computes volume, mean RPE, and drop-off live. Run inference: about 89 kilograms, Optimal Hypertrophy. [Change set 3 to 6 reps at RPE 9.5 and set 4 to 4 reps at RPE 10, then run again] When the last sets grind, the session moves to Excessive Fatigue, but the prescribed load barely changes: one session says little about accumulated fatigue, which is exactly why history features come next. [Clear the Age field] And invalid input is explained instead of being sent to the model.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the pipeline works end to end on real baselines, and both networks beat their baselines on held-out lifters. It does not yet show real-world accuracy, because the targets come from my own simulator, which uses the Epley relationship internally. The margin over linear regression is small, and these are single-seed results.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Preliminary Results 2: first, history features, meaning previous sessions, days of rest, and the load used, because that is where accumulated fatigue lives and where the MLP should pull ahead of linear regression. Second, rigor: multiple seeds, confidence intervals, and tuning. Third, the application: PostgreSQL history, a proxy route, and a deployed live URL.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my AI use disclosure, as the syllabus requires. I used Claude Code to generate most of the implementation from my specifications, along with these slides, and to run three automated peer reviews that led to the corrected metrics and validation fixes. I verified the work by running the pipeline, checking the metrics against the baselines, and testing the live application. Thank you, and I'm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2/7/26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2/7/26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2/7/26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2/7/26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2/7/26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2/7/26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2/7/26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2/7/26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2/7/26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Preliminary Results 1</a:t>
            </a:r>
          </a:p>
          <a:p>
            <a:r>
              <a:t>Project: Strength &amp; Volume Optimization Engine</a:t>
            </a:r>
          </a:p>
        </p:txBody>
      </p:sp>
      <p:sp>
        <p:nvSpPr>
          <p:cNvPr id="3" name="Subtitle 2"/>
          <p:cNvSpPr>
            <a:spLocks noGrp="1"/>
          </p:cNvSpPr>
          <p:nvPr>
            <p:ph type="subTitle" idx="1"/>
          </p:nvPr>
        </p:nvSpPr>
        <p:spPr/>
        <p:txBody>
          <a:bodyPr/>
          <a:lstStyle/>
          <a:p>
            <a:r>
              <a:t>Neural Network-Based  |  Cody Grandt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Full Pipeline</a:t>
            </a:r>
          </a:p>
        </p:txBody>
      </p:sp>
      <p:sp>
        <p:nvSpPr>
          <p:cNvPr id="3" name="Content Placeholder 2"/>
          <p:cNvSpPr>
            <a:spLocks noGrp="1"/>
          </p:cNvSpPr>
          <p:nvPr>
            <p:ph idx="1"/>
          </p:nvPr>
        </p:nvSpPr>
        <p:spPr/>
        <p:txBody>
          <a:bodyPr/>
          <a:lstStyle/>
          <a:p>
            <a:r>
              <a:rPr b="1"/>
              <a:t>Data: </a:t>
            </a:r>
            <a:r>
              <a:t>OpenPowerlifting baselines + 30-day fatigue simulator</a:t>
            </a:r>
          </a:p>
          <a:p>
            <a:r>
              <a:rPr b="1"/>
              <a:t>Split: </a:t>
            </a:r>
            <a:r>
              <a:t>600 test lifters held out entirely</a:t>
            </a:r>
          </a:p>
          <a:p>
            <a:r>
              <a:rPr b="1"/>
              <a:t>Models: </a:t>
            </a:r>
            <a:r>
              <a:t>MLP regressor (64, 32) and MLP classifier (32, 16)</a:t>
            </a:r>
          </a:p>
          <a:p>
            <a:r>
              <a:rPr b="1"/>
              <a:t>Serving: </a:t>
            </a:r>
            <a:r>
              <a:t>FastAPI inference microservice, Next.js + Recoil interface</a:t>
            </a:r>
          </a:p>
          <a:p>
            <a:r>
              <a:rPr b="1"/>
              <a:t>Correction: </a:t>
            </a:r>
            <a:r>
              <a:t>the regressor is a function approximator, not a “Progression Forecaster”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Real Lifter Baselines</a:t>
            </a:r>
          </a:p>
        </p:txBody>
      </p:sp>
      <p:sp>
        <p:nvSpPr>
          <p:cNvPr id="3" name="Content Placeholder 2"/>
          <p:cNvSpPr>
            <a:spLocks noGrp="1"/>
          </p:cNvSpPr>
          <p:nvPr>
            <p:ph idx="1"/>
          </p:nvPr>
        </p:nvSpPr>
        <p:spPr/>
        <p:txBody>
          <a:bodyPr/>
          <a:lstStyle/>
          <a:p>
            <a:r>
              <a:rPr b="1"/>
              <a:t>4,054,260 </a:t>
            </a:r>
            <a:r>
              <a:t>OpenPowerlifting competition entries</a:t>
            </a:r>
          </a:p>
          <a:p>
            <a:r>
              <a:rPr b="1"/>
              <a:t>436,706 </a:t>
            </a:r>
            <a:r>
              <a:t>unique Raw lifters with a valid bench</a:t>
            </a:r>
          </a:p>
          <a:p>
            <a:r>
              <a:rPr b="1"/>
              <a:t>3,000 </a:t>
            </a:r>
            <a:r>
              <a:t>sampled for this milestone</a:t>
            </a:r>
          </a:p>
          <a:p>
            <a:r>
              <a:rPr b="1"/>
              <a:t>Per lifter: </a:t>
            </a:r>
            <a:r>
              <a:t>bodyweight, age, sex, bench 1RM</a:t>
            </a:r>
          </a:p>
          <a:p>
            <a:r>
              <a:rPr b="1"/>
              <a:t>Why simulate: </a:t>
            </a:r>
            <a:r>
              <a:t>meets record one best lift, not daily training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Fatigue Simulator</a:t>
            </a:r>
          </a:p>
        </p:txBody>
      </p:sp>
      <p:sp>
        <p:nvSpPr>
          <p:cNvPr id="3" name="Content Placeholder 2"/>
          <p:cNvSpPr>
            <a:spLocks noGrp="1"/>
          </p:cNvSpPr>
          <p:nvPr>
            <p:ph idx="1"/>
          </p:nvPr>
        </p:nvSpPr>
        <p:spPr/>
        <p:txBody>
          <a:bodyPr/>
          <a:lstStyle/>
          <a:p>
            <a:r>
              <a:t>Each session adds hidden fatigue; it decays ~20% per day of rest</a:t>
            </a:r>
          </a:p>
          <a:p>
            <a:r>
              <a:t>Fatigue lowers capacity: reps fall and RPE rises across sets</a:t>
            </a:r>
          </a:p>
          <a:p>
            <a:r>
              <a:rPr b="1"/>
              <a:t>Target: </a:t>
            </a:r>
            <a:r>
              <a:t>load for 5 reps @ RPE 8 at the next session</a:t>
            </a:r>
          </a:p>
          <a:p>
            <a:r>
              <a:rPr b="1"/>
              <a:t>Inputs: </a:t>
            </a:r>
            <a:r>
              <a:t>bodyweight, age, sex, 1RM, session volume, mean RPE, rep drop-off</a:t>
            </a:r>
          </a:p>
          <a:p>
            <a:r>
              <a:t>The network never sees the fatigue value directly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Evaluation Design</a:t>
            </a:r>
          </a:p>
        </p:txBody>
      </p:sp>
      <p:sp>
        <p:nvSpPr>
          <p:cNvPr id="3" name="Content Placeholder 2"/>
          <p:cNvSpPr>
            <a:spLocks noGrp="1"/>
          </p:cNvSpPr>
          <p:nvPr>
            <p:ph idx="1"/>
          </p:nvPr>
        </p:nvSpPr>
        <p:spPr/>
        <p:txBody>
          <a:bodyPr/>
          <a:lstStyle/>
          <a:p>
            <a:r>
              <a:t>Split by lifter: every test lifter is unseen</a:t>
            </a:r>
          </a:p>
          <a:p>
            <a:r>
              <a:rPr b="1"/>
              <a:t>Baselines: </a:t>
            </a:r>
            <a:r>
              <a:t>static Epley, 1RM × k, linear regression, feature-only rule</a:t>
            </a:r>
          </a:p>
          <a:p>
            <a:r>
              <a:rPr b="1"/>
              <a:t>Metric: </a:t>
            </a:r>
            <a:r>
              <a:t>error as % of 1RM</a:t>
            </a:r>
          </a:p>
          <a:p>
            <a:pPr lvl="1"/>
            <a:r>
              <a:t>“0.73 × 1RM” alone scores R² = 0.985, so absolute R² flatters any model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Regression Results</a:t>
            </a:r>
          </a:p>
        </p:txBody>
      </p:sp>
      <p:sp>
        <p:nvSpPr>
          <p:cNvPr id="3" name="Content Placeholder 2"/>
          <p:cNvSpPr>
            <a:spLocks noGrp="1"/>
          </p:cNvSpPr>
          <p:nvPr>
            <p:ph idx="1" sz="half"/>
          </p:nvPr>
        </p:nvSpPr>
        <p:spPr/>
        <p:txBody>
          <a:bodyPr/>
          <a:lstStyle/>
          <a:p>
            <a:r>
              <a:t>Mean absolute error, % of 1RM:</a:t>
            </a:r>
          </a:p>
          <a:p>
            <a:pPr lvl="1"/>
            <a:r>
              <a:t>Static Epley: 8.22%</a:t>
            </a:r>
          </a:p>
          <a:p>
            <a:pPr lvl="1"/>
            <a:r>
              <a:t>1RM × k: 2.67%</a:t>
            </a:r>
          </a:p>
          <a:p>
            <a:pPr lvl="1"/>
            <a:r>
              <a:t>Linear regression: 1.88%</a:t>
            </a:r>
          </a:p>
          <a:p>
            <a:pPr lvl="1"/>
            <a:r>
              <a:t>MLP regressor: 1.79% (1.90 kg)</a:t>
            </a:r>
          </a:p>
          <a:p>
            <a:r>
              <a:t>MLP beats every baseline; lead over linear is small</a:t>
            </a:r>
          </a:p>
          <a:p>
            <a:r>
              <a:rPr b="1"/>
              <a:t>Noise floor: </a:t>
            </a:r>
            <a:r>
              <a:t>0.80 kg</a:t>
            </a:r>
          </a:p>
        </p:txBody>
      </p:sp>
      <p:pic>
        <p:nvPicPr>
          <p:cNvPr id="4" name="Picture 3" descr="prescribed_vs_target.png"/>
          <p:cNvPicPr>
            <a:picLocks noChangeAspect="1"/>
          </p:cNvPicPr>
          <p:nvPr/>
        </p:nvPicPr>
        <p:blipFill>
          <a:blip r:embed="rId2"/>
          <a:stretch>
            <a:fillRect/>
          </a:stretch>
        </p:blipFill>
        <p:spPr>
          <a:xfrm>
            <a:off x="7083089" y="2228003"/>
            <a:ext cx="3633047" cy="3633047"/>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Classification Results</a:t>
            </a:r>
          </a:p>
        </p:txBody>
      </p:sp>
      <p:sp>
        <p:nvSpPr>
          <p:cNvPr id="3" name="Content Placeholder 2"/>
          <p:cNvSpPr>
            <a:spLocks noGrp="1"/>
          </p:cNvSpPr>
          <p:nvPr>
            <p:ph idx="1" sz="half"/>
          </p:nvPr>
        </p:nvSpPr>
        <p:spPr/>
        <p:txBody>
          <a:bodyPr/>
          <a:lstStyle/>
          <a:p>
            <a:r>
              <a:t>Held-out accuracy:</a:t>
            </a:r>
          </a:p>
          <a:p>
            <a:pPr lvl="1"/>
            <a:r>
              <a:t>Majority class: 46.1%</a:t>
            </a:r>
          </a:p>
          <a:p>
            <a:pPr lvl="1"/>
            <a:r>
              <a:t>Feature-only rule: 76.3%</a:t>
            </a:r>
          </a:p>
          <a:p>
            <a:pPr lvl="1"/>
            <a:r>
              <a:t>MLP classifier: 86.4%</a:t>
            </a:r>
          </a:p>
          <a:p>
            <a:r>
              <a:rPr b="1"/>
              <a:t>Recall: </a:t>
            </a:r>
            <a:r>
              <a:t>Under 97%, Optimal 85%, Excessive 81%</a:t>
            </a:r>
          </a:p>
          <a:p>
            <a:r>
              <a:t>Most errors: Optimal ↔ Excessive</a:t>
            </a:r>
          </a:p>
        </p:txBody>
      </p:sp>
      <p:pic>
        <p:nvPicPr>
          <p:cNvPr id="4" name="Picture 3" descr="confusion_matrix.png"/>
          <p:cNvPicPr>
            <a:picLocks noChangeAspect="1"/>
          </p:cNvPicPr>
          <p:nvPr/>
        </p:nvPicPr>
        <p:blipFill>
          <a:blip r:embed="rId2"/>
          <a:stretch>
            <a:fillRect/>
          </a:stretch>
        </p:blipFill>
        <p:spPr>
          <a:xfrm>
            <a:off x="6780336" y="2228003"/>
            <a:ext cx="4238554" cy="3633047"/>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Live Demo</a:t>
            </a:r>
          </a:p>
        </p:txBody>
      </p:sp>
      <p:sp>
        <p:nvSpPr>
          <p:cNvPr id="3" name="Content Placeholder 2"/>
          <p:cNvSpPr>
            <a:spLocks noGrp="1"/>
          </p:cNvSpPr>
          <p:nvPr>
            <p:ph idx="1"/>
          </p:nvPr>
        </p:nvSpPr>
        <p:spPr/>
        <p:txBody>
          <a:bodyPr/>
          <a:lstStyle/>
          <a:p>
            <a:r>
              <a:rPr b="1"/>
              <a:t>Train: </a:t>
            </a:r>
            <a:r>
              <a:t>python train_pipeline.py</a:t>
            </a:r>
          </a:p>
          <a:p>
            <a:r>
              <a:rPr b="1"/>
              <a:t>Serve: </a:t>
            </a:r>
            <a:r>
              <a:t>uvicorn main:app --port 8000</a:t>
            </a:r>
          </a:p>
          <a:p>
            <a:r>
              <a:rPr b="1"/>
              <a:t>Use: </a:t>
            </a:r>
            <a:r>
              <a:t>npm run dev → localhost:3000</a:t>
            </a:r>
          </a:p>
          <a:p>
            <a:r>
              <a:t>Log sets, run inference, try edge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the Results Show</a:t>
            </a:r>
          </a:p>
        </p:txBody>
      </p:sp>
      <p:sp>
        <p:nvSpPr>
          <p:cNvPr id="3" name="Text Placeholder 2"/>
          <p:cNvSpPr>
            <a:spLocks noGrp="1"/>
          </p:cNvSpPr>
          <p:nvPr>
            <p:ph type="body" idx="1"/>
          </p:nvPr>
        </p:nvSpPr>
        <p:spPr/>
        <p:txBody>
          <a:bodyPr/>
          <a:lstStyle/>
          <a:p>
            <a:r>
              <a:t>Supported</a:t>
            </a:r>
          </a:p>
        </p:txBody>
      </p:sp>
      <p:sp>
        <p:nvSpPr>
          <p:cNvPr id="4" name="Content Placeholder 3"/>
          <p:cNvSpPr>
            <a:spLocks noGrp="1"/>
          </p:cNvSpPr>
          <p:nvPr>
            <p:ph idx="2" sz="half"/>
          </p:nvPr>
        </p:nvSpPr>
        <p:spPr/>
        <p:txBody>
          <a:bodyPr/>
          <a:lstStyle/>
          <a:p>
            <a:r>
              <a:t>Pipeline works end to end on real baselines</a:t>
            </a:r>
          </a:p>
          <a:p>
            <a:r>
              <a:t>MLP beats Epley, 1RM scaling and linear regression</a:t>
            </a:r>
          </a:p>
          <a:p>
            <a:r>
              <a:t>Classifier beats its feature-only rule (86% vs 76%)</a:t>
            </a:r>
          </a:p>
        </p:txBody>
      </p:sp>
      <p:sp>
        <p:nvSpPr>
          <p:cNvPr id="5" name="Text Placeholder 4"/>
          <p:cNvSpPr>
            <a:spLocks noGrp="1"/>
          </p:cNvSpPr>
          <p:nvPr>
            <p:ph type="body" idx="3" sz="quarter"/>
          </p:nvPr>
        </p:nvSpPr>
        <p:spPr/>
        <p:txBody>
          <a:bodyPr/>
          <a:lstStyle/>
          <a:p>
            <a:r>
              <a:t>Not yet supported</a:t>
            </a:r>
          </a:p>
        </p:txBody>
      </p:sp>
      <p:sp>
        <p:nvSpPr>
          <p:cNvPr id="6" name="Content Placeholder 5"/>
          <p:cNvSpPr>
            <a:spLocks noGrp="1"/>
          </p:cNvSpPr>
          <p:nvPr>
            <p:ph idx="4" sz="quarter"/>
          </p:nvPr>
        </p:nvSpPr>
        <p:spPr/>
        <p:txBody>
          <a:bodyPr/>
          <a:lstStyle/>
          <a:p>
            <a:r>
              <a:t>Real-world accuracy (targets come from my simulator)</a:t>
            </a:r>
          </a:p>
          <a:p>
            <a:r>
              <a:t>A large margin over linear regression (0.09 points)</a:t>
            </a:r>
          </a:p>
          <a:p>
            <a:r>
              <a:t>Statistical confidence (single seed)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Steps: Preliminary Results 2</a:t>
            </a:r>
          </a:p>
        </p:txBody>
      </p:sp>
      <p:sp>
        <p:nvSpPr>
          <p:cNvPr id="3" name="Content Placeholder 2"/>
          <p:cNvSpPr>
            <a:spLocks noGrp="1"/>
          </p:cNvSpPr>
          <p:nvPr>
            <p:ph idx="1"/>
          </p:nvPr>
        </p:nvSpPr>
        <p:spPr/>
        <p:txBody>
          <a:bodyPr/>
          <a:lstStyle/>
          <a:p>
            <a:r>
              <a:rPr b="1"/>
              <a:t>History features: </a:t>
            </a:r>
            <a:r>
              <a:t>previous sessions, days of rest, load used</a:t>
            </a:r>
          </a:p>
          <a:p>
            <a:r>
              <a:rPr b="1"/>
              <a:t>Rigor: </a:t>
            </a:r>
            <a:r>
              <a:t>multiple seeds, confidence intervals, tuning</a:t>
            </a:r>
          </a:p>
          <a:p>
            <a:r>
              <a:rPr b="1"/>
              <a:t>Application: </a:t>
            </a:r>
            <a:r>
              <a:t>PostgreSQL history, proxy route, live URL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 Use Disclosure</a:t>
            </a:r>
          </a:p>
        </p:txBody>
      </p:sp>
      <p:sp>
        <p:nvSpPr>
          <p:cNvPr id="3" name="Content Placeholder 2"/>
          <p:cNvSpPr>
            <a:spLocks noGrp="1"/>
          </p:cNvSpPr>
          <p:nvPr>
            <p:ph idx="1"/>
          </p:nvPr>
        </p:nvSpPr>
        <p:spPr/>
        <p:txBody>
          <a:bodyPr/>
          <a:lstStyle/>
          <a:p>
            <a:r>
              <a:t>I used Claude Code (Anthropic) as a coding and writing assistant for this milestone. From my specifications it generated most of the implementation: the OpenPowerlifting preparation script, the fatigue simulator, the training and evaluation pipeline, the FastAPI service, and the Next.js interface, along with these slides and the script. I also used it to run three automated peer reviews (ML methodology, code correctness, and course compliance); their findings led to the honest % of 1RM metrics, the added baselines, and the input-validation fixes shown here. I verified the work by running the pipeline, checking every reported metric against its baselines, and testing the live app end to end.</a:t>
            </a:r>
          </a:p>
        </p:txBody>
      </p:sp>
    </p:spTree>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Dividend</Template>
  <TotalTime>279</TotalTime>
  <Words>776</Words>
  <Application>Microsoft Macintosh PowerPoint</Application>
  <PresentationFormat>Widescreen</PresentationFormat>
  <Paragraphs>63</Paragraphs>
  <Slides>17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Gill Sans MT</vt:lpstr>
      <vt:lpstr>Wingdings 2</vt:lpstr>
      <vt:lpstr>Dividend</vt:lpstr>
      <vt:lpstr>Literature survey  Project: Client-Side Image reconstruction</vt:lpstr>
      <vt:lpstr>Academic source 1</vt:lpstr>
      <vt:lpstr>Academic source 2</vt:lpstr>
      <vt:lpstr>Academic source 3</vt:lpstr>
      <vt:lpstr>Academic source 4</vt:lpstr>
      <vt:lpstr>Academic source 5</vt:lpstr>
      <vt:lpstr>Academic source 6</vt:lpstr>
      <vt:lpstr>Academic source 7</vt:lpstr>
      <vt:lpstr>Academic source 8</vt:lpstr>
      <vt:lpstr>Academic source 9</vt:lpstr>
      <vt:lpstr>Academic source 10</vt:lpstr>
      <vt:lpstr>Practical source 1</vt:lpstr>
      <vt:lpstr>Practical source 2</vt:lpstr>
      <vt:lpstr>Practical source 3</vt:lpstr>
      <vt:lpstr>Practical source 4</vt:lpstr>
      <vt:lpstr>Practical source 5</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Cody Lee Grandt</dc:creator>
  <cp:lastModifiedBy>Cody Lee Grandt</cp:lastModifiedBy>
  <cp:revision>1</cp:revision>
  <dcterms:created xsi:type="dcterms:W3CDTF">2026-02-07T16:33:29Z</dcterms:created>
  <dcterms:modified xsi:type="dcterms:W3CDTF">2026-02-07T21:12:50Z</dcterms:modified>
</cp:coreProperties>
</file>